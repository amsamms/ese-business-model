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</a:defRPr>
            </a:pPr>
            <a:r>
              <a:t>ESE Business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2926080"/>
            <a:ext cx="2743200" cy="38100"/>
          </a:xfrm>
          <a:prstGeom prst="rect">
            <a:avLst/>
          </a:prstGeom>
          <a:solidFill>
            <a:srgbClr val="C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C8960C"/>
                </a:solidFill>
              </a:defRPr>
            </a:pPr>
            <a:r>
              <a:t>EPROM Smart Engineering — AI Copilot for Petroleum Engineers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Two-Track Strategy: Individual SaaS + Corporate SaaS for EGPC Refineries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18096"/>
                </a:solidFill>
              </a:defRPr>
            </a:pPr>
            <a:r>
              <a:t>April 2026 — v2 (Egyptian Economic Reality Pricing)  | 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008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18096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A1628"/>
                </a:solidFill>
              </a:defRPr>
            </a:pPr>
            <a:r>
              <a:t>Executive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38100"/>
          </a:xfrm>
          <a:prstGeom prst="rect">
            <a:avLst/>
          </a:prstGeom>
          <a:solidFill>
            <a:srgbClr val="C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D3748"/>
                </a:solidFill>
              </a:defRPr>
            </a:pPr>
            <a:r>
              <a:t>ESE is an AI-powered engineering copilot for petroleum process engineers — built by EPROM, launched at EGYPS 2026.</a:t>
            </a:r>
          </a:p>
          <a:p>
            <a:pPr>
              <a:spcAft>
                <a:spcPts val="600"/>
              </a:spcAft>
              <a:defRPr sz="1600">
                <a:solidFill>
                  <a:srgbClr val="2D3748"/>
                </a:solidFill>
              </a:defRPr>
            </a:pPr>
            <a:r>
              <a:t>Egypt's economic reality demands pricing EGPC subsidiaries can actually approve: 100K-200K EGP/yr per refinery.</a:t>
            </a:r>
          </a:p>
          <a:p>
            <a:pPr>
              <a:spcAft>
                <a:spcPts val="600"/>
              </a:spcAft>
              <a:defRPr sz="1600">
                <a:solidFill>
                  <a:srgbClr val="2D3748"/>
                </a:solidFill>
              </a:defRPr>
            </a:pPr>
            <a:r>
              <a:t>Two-Track Strategy: Model A (Individual SaaS) generates cash flow + user feedback. Model B (Corporate SaaS) lands inside 10 EGPC refineries at honest Egyptian pricing.</a:t>
            </a:r>
          </a:p>
          <a:p>
            <a:pPr>
              <a:spcAft>
                <a:spcPts val="600"/>
              </a:spcAft>
              <a:defRPr sz="1600">
                <a:solidFill>
                  <a:srgbClr val="2D3748"/>
                </a:solidFill>
              </a:defRPr>
            </a:pPr>
            <a:r>
              <a:t>Combined 3-year revenue: 17.2M EGP. Combined break-even: ~Year 5.</a:t>
            </a:r>
          </a:p>
          <a:p>
            <a:pPr>
              <a:spcAft>
                <a:spcPts val="600"/>
              </a:spcAft>
              <a:defRPr sz="1600">
                <a:solidFill>
                  <a:srgbClr val="2D3748"/>
                </a:solidFill>
              </a:defRPr>
            </a:pPr>
            <a:r>
              <a:t>Model B is a strategic market-entry investment — the real return comes in Y4+ (Model C on-prem at 10× ticket sizes).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937760"/>
            <a:ext cx="2560320" cy="13716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0A1628"/>
                </a:solidFill>
              </a:defRPr>
            </a:pPr>
            <a:r>
              <a:t>725K EGP</a:t>
            </a:r>
          </a:p>
          <a:p>
            <a:pPr algn="ctr">
              <a:defRPr sz="1100">
                <a:solidFill>
                  <a:srgbClr val="718096"/>
                </a:solidFill>
              </a:defRPr>
            </a:pPr>
            <a:r>
              <a:t>Y1 Combined</a:t>
            </a:r>
            <a:br/>
            <a:r>
              <a:t>Revenue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4937760"/>
            <a:ext cx="2560320" cy="13716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0A1628"/>
                </a:solidFill>
              </a:defRPr>
            </a:pPr>
            <a:r>
              <a:t>5,450K EGP</a:t>
            </a:r>
          </a:p>
          <a:p>
            <a:pPr algn="ctr">
              <a:defRPr sz="1100">
                <a:solidFill>
                  <a:srgbClr val="718096"/>
                </a:solidFill>
              </a:defRPr>
            </a:pPr>
            <a:r>
              <a:t>Y2 Combined</a:t>
            </a:r>
            <a:br/>
            <a:r>
              <a:t>Revenue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4937760"/>
            <a:ext cx="2560320" cy="13716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0A1628"/>
                </a:solidFill>
              </a:defRPr>
            </a:pPr>
            <a:r>
              <a:t>11,050K EGP</a:t>
            </a:r>
          </a:p>
          <a:p>
            <a:pPr algn="ctr">
              <a:defRPr sz="1100">
                <a:solidFill>
                  <a:srgbClr val="718096"/>
                </a:solidFill>
              </a:defRPr>
            </a:pPr>
            <a:r>
              <a:t>Y3 Combined</a:t>
            </a:r>
            <a:br/>
            <a:r>
              <a:t>Revenue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4937760"/>
            <a:ext cx="2560320" cy="13716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0A1628"/>
                </a:solidFill>
              </a:defRPr>
            </a:pPr>
            <a:r>
              <a:t>~Year 5</a:t>
            </a:r>
          </a:p>
          <a:p>
            <a:pPr algn="ctr">
              <a:defRPr sz="1100">
                <a:solidFill>
                  <a:srgbClr val="718096"/>
                </a:solidFill>
              </a:defRPr>
            </a:pPr>
            <a:r>
              <a:t>Break-even</a:t>
            </a:r>
            <a:br/>
            <a:r>
              <a:t>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008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18096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A1628"/>
                </a:solidFill>
              </a:defRPr>
            </a:pPr>
            <a:r>
              <a:t>Two-Track Strategy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38100"/>
          </a:xfrm>
          <a:prstGeom prst="rect">
            <a:avLst/>
          </a:prstGeom>
          <a:solidFill>
            <a:srgbClr val="C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029200" cy="41148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A1628"/>
                </a:solidFill>
              </a:defRPr>
            </a:pPr>
            <a:r>
              <a:t>Model A</a:t>
            </a:r>
          </a:p>
          <a:p>
            <a:pPr>
              <a:spcAft>
                <a:spcPts val="400"/>
              </a:spcAft>
              <a:defRPr sz="1300">
                <a:solidFill>
                  <a:srgbClr val="2D3748"/>
                </a:solidFill>
              </a:defRPr>
            </a:pPr>
            <a:r>
              <a:t>  Individual &amp; SMB SaaS</a:t>
            </a:r>
          </a:p>
          <a:p>
            <a:pPr>
              <a:spcAft>
                <a:spcPts val="400"/>
              </a:spcAft>
              <a:defRPr sz="1300">
                <a:solidFill>
                  <a:srgbClr val="2D3748"/>
                </a:solidFill>
              </a:defRPr>
            </a:pPr>
            <a:r>
              <a:t>  SKUs: Free → Pro (12K/yr) → Team (48K+)</a:t>
            </a:r>
          </a:p>
          <a:p>
            <a:pPr>
              <a:spcAft>
                <a:spcPts val="400"/>
              </a:spcAft>
              <a:defRPr sz="1300">
                <a:solidFill>
                  <a:srgbClr val="2D3748"/>
                </a:solidFill>
              </a:defRPr>
            </a:pPr>
            <a:r>
              <a:t>  Revenue Y3: 8.8M EGP</a:t>
            </a:r>
          </a:p>
          <a:p>
            <a:pPr>
              <a:spcAft>
                <a:spcPts val="400"/>
              </a:spcAft>
              <a:defRPr sz="1300">
                <a:solidFill>
                  <a:srgbClr val="2D3748"/>
                </a:solidFill>
              </a:defRPr>
            </a:pPr>
            <a:r>
              <a:t>  Break-even: Y3Q4</a:t>
            </a:r>
          </a:p>
          <a:p>
            <a:pPr>
              <a:spcAft>
                <a:spcPts val="400"/>
              </a:spcAft>
              <a:defRPr sz="1300">
                <a:solidFill>
                  <a:srgbClr val="2D3748"/>
                </a:solidFill>
              </a:defRPr>
            </a:pPr>
            <a:r>
              <a:t>  Key asset: Direct user feedback loop</a:t>
            </a:r>
          </a:p>
          <a:p>
            <a:pPr>
              <a:spcAft>
                <a:spcPts val="400"/>
              </a:spcAft>
              <a:defRPr sz="1300">
                <a:solidFill>
                  <a:srgbClr val="2D3748"/>
                </a:solidFill>
              </a:defRPr>
            </a:pPr>
            <a:r>
              <a:t>  1,500+ engineers → real case studies</a:t>
            </a:r>
          </a:p>
          <a:p>
            <a:pPr>
              <a:spcAft>
                <a:spcPts val="400"/>
              </a:spcAft>
              <a:defRPr sz="1300">
                <a:solidFill>
                  <a:srgbClr val="2D3748"/>
                </a:solidFill>
              </a:defRPr>
            </a:pPr>
            <a:r>
              <a:t>  Funds shared costs for Model 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645920"/>
            <a:ext cx="5029200" cy="41148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A1628"/>
                </a:solidFill>
              </a:defRPr>
            </a:pPr>
            <a:r>
              <a:t>Model B</a:t>
            </a:r>
          </a:p>
          <a:p>
            <a:pPr>
              <a:spcAft>
                <a:spcPts val="400"/>
              </a:spcAft>
              <a:defRPr sz="1300">
                <a:solidFill>
                  <a:srgbClr val="2D3748"/>
                </a:solidFill>
              </a:defRPr>
            </a:pPr>
            <a:r>
              <a:t>  Corporate SaaS for EGPC Refineries</a:t>
            </a:r>
          </a:p>
          <a:p>
            <a:pPr>
              <a:spcAft>
                <a:spcPts val="400"/>
              </a:spcAft>
              <a:defRPr sz="1300">
                <a:solidFill>
                  <a:srgbClr val="2D3748"/>
                </a:solidFill>
              </a:defRPr>
            </a:pPr>
            <a:r>
              <a:t>  SKUs: Starter (100K/yr) → Pro (200K/yr)</a:t>
            </a:r>
          </a:p>
          <a:p>
            <a:pPr>
              <a:spcAft>
                <a:spcPts val="400"/>
              </a:spcAft>
              <a:defRPr sz="1300">
                <a:solidFill>
                  <a:srgbClr val="2D3748"/>
                </a:solidFill>
              </a:defRPr>
            </a:pPr>
            <a:r>
              <a:t>  Target: 10 EGPC subsidiaries</a:t>
            </a:r>
          </a:p>
          <a:p>
            <a:pPr>
              <a:spcAft>
                <a:spcPts val="400"/>
              </a:spcAft>
              <a:defRPr sz="1300">
                <a:solidFill>
                  <a:srgbClr val="2D3748"/>
                </a:solidFill>
              </a:defRPr>
            </a:pPr>
            <a:r>
              <a:t>  Steady-state TAM: ~1.8M EGP/yr</a:t>
            </a:r>
          </a:p>
          <a:p>
            <a:pPr>
              <a:spcAft>
                <a:spcPts val="400"/>
              </a:spcAft>
              <a:defRPr sz="1300">
                <a:solidFill>
                  <a:srgbClr val="2D3748"/>
                </a:solidFill>
              </a:defRPr>
            </a:pPr>
            <a:r>
              <a:t>  Cash-negative Y1-Y3 (strategic investment)</a:t>
            </a:r>
          </a:p>
          <a:p>
            <a:pPr>
              <a:spcAft>
                <a:spcPts val="400"/>
              </a:spcAft>
              <a:defRPr sz="1300">
                <a:solidFill>
                  <a:srgbClr val="2D3748"/>
                </a:solidFill>
              </a:defRPr>
            </a:pPr>
            <a:r>
              <a:t>  Real return Y4+: Model C at 10× tickets</a:t>
            </a:r>
          </a:p>
          <a:p>
            <a:pPr>
              <a:spcAft>
                <a:spcPts val="400"/>
              </a:spcAft>
              <a:defRPr sz="1300">
                <a:solidFill>
                  <a:srgbClr val="2D3748"/>
                </a:solidFill>
              </a:defRPr>
            </a:pPr>
            <a:r>
              <a:t>  In-house AI from Y1 (EGPC mandate)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59436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8960C"/>
                </a:solidFill>
              </a:defRPr>
            </a:pPr>
            <a:r>
              <a:t>Model A feeds Model B  →  Model B builds for Model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008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18096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A1628"/>
                </a:solidFill>
              </a:defRPr>
            </a:pPr>
            <a:r>
              <a:t>Model A — SKUs &amp; Pricing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38100"/>
          </a:xfrm>
          <a:prstGeom prst="rect">
            <a:avLst/>
          </a:prstGeom>
          <a:solidFill>
            <a:srgbClr val="C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057400" cy="256032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A1628"/>
                </a:solidFill>
              </a:defRPr>
            </a:pPr>
            <a:r>
              <a:t>ESE Free Trial</a:t>
            </a:r>
          </a:p>
          <a:p>
            <a:pPr algn="ctr">
              <a:defRPr sz="1600" b="1">
                <a:solidFill>
                  <a:srgbClr val="1A3A5C"/>
                </a:solidFill>
              </a:defRPr>
            </a:pPr>
            <a:r>
              <a:t>0 EGP</a:t>
            </a:r>
          </a:p>
          <a:p>
            <a:pPr algn="ctr">
              <a:defRPr sz="1000">
                <a:solidFill>
                  <a:srgbClr val="718096"/>
                </a:solidFill>
              </a:defRPr>
            </a:pPr>
            <a:r>
              <a:t>10 AI units (once), 1 seat, view-only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71800" y="1463040"/>
            <a:ext cx="2057400" cy="256032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A1628"/>
                </a:solidFill>
              </a:defRPr>
            </a:pPr>
            <a:r>
              <a:t>ESE Student</a:t>
            </a:r>
          </a:p>
          <a:p>
            <a:pPr algn="ctr">
              <a:defRPr sz="1600" b="1">
                <a:solidFill>
                  <a:srgbClr val="1A3A5C"/>
                </a:solidFill>
              </a:defRPr>
            </a:pPr>
            <a:r>
              <a:t>600 EGP/yr</a:t>
            </a:r>
          </a:p>
          <a:p>
            <a:pPr algn="ctr">
              <a:defRPr sz="1000">
                <a:solidFill>
                  <a:srgbClr val="718096"/>
                </a:solidFill>
              </a:defRPr>
            </a:pPr>
            <a:r>
              <a:t>100 AI units/mo, verified .edu.eg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12080" y="1463040"/>
            <a:ext cx="2057400" cy="2560320"/>
          </a:xfrm>
          <a:prstGeom prst="roundRect">
            <a:avLst/>
          </a:prstGeom>
          <a:solidFill>
            <a:srgbClr val="FFFBEB"/>
          </a:solidFill>
          <a:ln w="25400">
            <a:solidFill>
              <a:srgbClr val="C89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A1628"/>
                </a:solidFill>
              </a:defRPr>
            </a:pPr>
            <a:r>
              <a:t>ESE Pro</a:t>
            </a:r>
          </a:p>
          <a:p>
            <a:pPr algn="ctr">
              <a:defRPr sz="1600" b="1">
                <a:solidFill>
                  <a:srgbClr val="1A3A5C"/>
                </a:solidFill>
              </a:defRPr>
            </a:pPr>
            <a:r>
              <a:t>12,000 EGP/yr</a:t>
            </a:r>
          </a:p>
          <a:p>
            <a:pPr algn="ctr">
              <a:defRPr sz="1000">
                <a:solidFill>
                  <a:srgbClr val="718096"/>
                </a:solidFill>
              </a:defRPr>
            </a:pPr>
            <a:r>
              <a:t>500 AI units/mo, unlimited history, PDF export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52360" y="1463040"/>
            <a:ext cx="2057400" cy="256032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A1628"/>
                </a:solidFill>
              </a:defRPr>
            </a:pPr>
            <a:r>
              <a:t>ESE Team Starter</a:t>
            </a:r>
          </a:p>
          <a:p>
            <a:pPr algn="ctr">
              <a:defRPr sz="1600" b="1">
                <a:solidFill>
                  <a:srgbClr val="1A3A5C"/>
                </a:solidFill>
              </a:defRPr>
            </a:pPr>
            <a:r>
              <a:t>48,000 EGP/yr</a:t>
            </a:r>
          </a:p>
          <a:p>
            <a:pPr algn="ctr">
              <a:defRPr sz="1000">
                <a:solidFill>
                  <a:srgbClr val="718096"/>
                </a:solidFill>
              </a:defRPr>
            </a:pPr>
            <a:r>
              <a:t>2,500 AI units/mo pooled, 5 seats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92640" y="1463040"/>
            <a:ext cx="2057400" cy="256032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A1628"/>
                </a:solidFill>
              </a:defRPr>
            </a:pPr>
            <a:r>
              <a:t>ESE Team Growth</a:t>
            </a:r>
          </a:p>
          <a:p>
            <a:pPr algn="ctr">
              <a:defRPr sz="1600" b="1">
                <a:solidFill>
                  <a:srgbClr val="1A3A5C"/>
                </a:solidFill>
              </a:defRPr>
            </a:pPr>
            <a:r>
              <a:t>120,000 EGP/yr</a:t>
            </a:r>
          </a:p>
          <a:p>
            <a:pPr algn="ctr">
              <a:defRPr sz="1000">
                <a:solidFill>
                  <a:srgbClr val="718096"/>
                </a:solidFill>
              </a:defRPr>
            </a:pPr>
            <a:r>
              <a:t>7,500 AI units/mo pooled, 15 seats, SSO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89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18096"/>
                </a:solidFill>
              </a:defRPr>
            </a:pPr>
            <a:r>
              <a:t>Pro tier at ~$19/mo — deliberately under ChatGPT Plus / Claude Pro psychological barrier for Egyptian market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937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A1628"/>
                </a:solidFill>
              </a:defRPr>
            </a:pPr>
            <a:r>
              <a:t>Model A Financials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394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</a:defRPr>
            </a:pPr>
            <a:r>
              <a:t>Y1: 150 users  |  650K rev  |  -3,625K net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5394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</a:defRPr>
            </a:pPr>
            <a:r>
              <a:t>Y2: 900 users  |  4,300K rev  |  +565K net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5394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</a:defRPr>
            </a:pPr>
            <a:r>
              <a:t>Y3: 2,400 users  |  8,800K rev  |  +4,000K net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008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18096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A1628"/>
                </a:solidFill>
              </a:defRPr>
            </a:pPr>
            <a:r>
              <a:t>Model A — User Feedback Loop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38100"/>
          </a:xfrm>
          <a:prstGeom prst="rect">
            <a:avLst/>
          </a:prstGeom>
          <a:solidFill>
            <a:srgbClr val="C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3748"/>
                </a:solidFill>
              </a:defRPr>
            </a:pPr>
            <a:r>
              <a:t>Model A's biggest strategic asset beyond revenue: a direct feedback channel to real petroleum engineers using the product daily.</a:t>
            </a:r>
          </a:p>
        </p:txBody>
      </p:sp>
      <p:sp>
        <p:nvSpPr>
          <p:cNvPr id="5" name="Oval 4"/>
          <p:cNvSpPr/>
          <p:nvPr/>
        </p:nvSpPr>
        <p:spPr>
          <a:xfrm>
            <a:off x="1463040" y="2103120"/>
            <a:ext cx="548640" cy="548640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A1628"/>
                </a:solidFill>
              </a:defRPr>
            </a:pPr>
            <a:r>
              <a:t>In-app Feedback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9184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18096"/>
                </a:solidFill>
              </a:defRPr>
            </a:pPr>
            <a:r>
              <a:t>Thumbs up/down +</a:t>
            </a:r>
            <a:br/>
            <a:r>
              <a:t>free-text on every</a:t>
            </a:r>
            <a:br/>
            <a:r>
              <a:t>AI response</a:t>
            </a:r>
          </a:p>
        </p:txBody>
      </p:sp>
      <p:sp>
        <p:nvSpPr>
          <p:cNvPr id="8" name="Oval 7"/>
          <p:cNvSpPr/>
          <p:nvPr/>
        </p:nvSpPr>
        <p:spPr>
          <a:xfrm>
            <a:off x="3703320" y="2103120"/>
            <a:ext cx="548640" cy="548640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1800" y="28346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A1628"/>
                </a:solidFill>
              </a:defRPr>
            </a:pPr>
            <a:r>
              <a:t>Monthly Digest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1800" y="329184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18096"/>
                </a:solidFill>
              </a:defRPr>
            </a:pPr>
            <a:r>
              <a:t>Community Manager</a:t>
            </a:r>
            <a:br/>
            <a:r>
              <a:t>ranks top issues &amp;</a:t>
            </a:r>
            <a:br/>
            <a:r>
              <a:t>feature requests</a:t>
            </a:r>
          </a:p>
        </p:txBody>
      </p:sp>
      <p:sp>
        <p:nvSpPr>
          <p:cNvPr id="11" name="Oval 10"/>
          <p:cNvSpPr/>
          <p:nvPr/>
        </p:nvSpPr>
        <p:spPr>
          <a:xfrm>
            <a:off x="5943600" y="2103120"/>
            <a:ext cx="548640" cy="548640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8346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A1628"/>
                </a:solidFill>
              </a:defRPr>
            </a:pPr>
            <a:r>
              <a:t>Bi-weekly Updates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329184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18096"/>
                </a:solidFill>
              </a:defRPr>
            </a:pPr>
            <a:r>
              <a:t>Engineering ships</a:t>
            </a:r>
            <a:br/>
            <a:r>
              <a:t>fixes every 2 weeks</a:t>
            </a:r>
          </a:p>
        </p:txBody>
      </p:sp>
      <p:sp>
        <p:nvSpPr>
          <p:cNvPr id="14" name="Oval 13"/>
          <p:cNvSpPr/>
          <p:nvPr/>
        </p:nvSpPr>
        <p:spPr>
          <a:xfrm>
            <a:off x="8183880" y="2103120"/>
            <a:ext cx="548640" cy="548640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28346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A1628"/>
                </a:solidFill>
              </a:defRPr>
            </a:pPr>
            <a:r>
              <a:t>Public Changelog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329184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18096"/>
                </a:solidFill>
              </a:defRPr>
            </a:pPr>
            <a:r>
              <a:t>Users see feedback</a:t>
            </a:r>
            <a:br/>
            <a:r>
              <a:t>become product</a:t>
            </a:r>
            <a:br/>
            <a:r>
              <a:t>within days</a:t>
            </a:r>
          </a:p>
        </p:txBody>
      </p:sp>
      <p:sp>
        <p:nvSpPr>
          <p:cNvPr id="17" name="Oval 16"/>
          <p:cNvSpPr/>
          <p:nvPr/>
        </p:nvSpPr>
        <p:spPr>
          <a:xfrm>
            <a:off x="10424160" y="2103120"/>
            <a:ext cx="548640" cy="548640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28346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A1628"/>
                </a:solidFill>
              </a:defRPr>
            </a:pPr>
            <a:r>
              <a:t>Advisory Panel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329184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18096"/>
                </a:solidFill>
              </a:defRPr>
            </a:pPr>
            <a:r>
              <a:t>Top 20 power users:</a:t>
            </a:r>
            <a:br/>
            <a:r>
              <a:t>early access + direct</a:t>
            </a:r>
            <a:br/>
            <a:r>
              <a:t>line to product team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548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3748"/>
                </a:solidFill>
              </a:defRPr>
            </a:pPr>
            <a:r>
              <a:t>Why this matters for Model B: Before pitching MIDOR/CORC, 1,500 Model A users have already battle-tested every feature. We walk into EGPC meetings knowing exactly what refiners need — because they already told us.</a:t>
            </a:r>
            <a:br/>
            <a:br/>
            <a:r>
              <a:t>Cost: Near-zero marginal cost. Community Manager already in hiring plan. Simple feedback widget (~2 days dev work).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0" y="64008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18096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A1628"/>
                </a:solidFill>
              </a:defRPr>
            </a:pPr>
            <a:r>
              <a:t>Model B — Corporate SaaS for EGPC Refineries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38100"/>
          </a:xfrm>
          <a:prstGeom prst="rect">
            <a:avLst/>
          </a:prstGeom>
          <a:solidFill>
            <a:srgbClr val="C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029200" cy="27432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A1628"/>
                </a:solidFill>
              </a:defRPr>
            </a:pPr>
            <a:r>
              <a:t>ESE Refinery Starter</a:t>
            </a:r>
          </a:p>
          <a:p>
            <a:pPr>
              <a:defRPr sz="2400" b="1">
                <a:solidFill>
                  <a:srgbClr val="1A3A5C"/>
                </a:solidFill>
              </a:defRPr>
            </a:pPr>
            <a:r>
              <a:t>100,000 EGP/yr</a:t>
            </a:r>
          </a:p>
          <a:p>
            <a:pPr>
              <a:defRPr sz="1200">
                <a:solidFill>
                  <a:srgbClr val="2D3748"/>
                </a:solidFill>
              </a:defRPr>
            </a:pPr>
            <a:r>
              <a:t>  Up to 10 named users</a:t>
            </a:r>
          </a:p>
          <a:p>
            <a:pPr>
              <a:defRPr sz="1200">
                <a:solidFill>
                  <a:srgbClr val="2D3748"/>
                </a:solidFill>
              </a:defRPr>
            </a:pPr>
            <a:r>
              <a:t>  All ESE engineering apps</a:t>
            </a:r>
          </a:p>
          <a:p>
            <a:pPr>
              <a:defRPr sz="1200">
                <a:solidFill>
                  <a:srgbClr val="2D3748"/>
                </a:solidFill>
              </a:defRPr>
            </a:pPr>
            <a:r>
              <a:t>  Shared EPROM knowledge base</a:t>
            </a:r>
          </a:p>
          <a:p>
            <a:pPr>
              <a:defRPr sz="1200">
                <a:solidFill>
                  <a:srgbClr val="2D3748"/>
                </a:solidFill>
              </a:defRPr>
            </a:pPr>
            <a:r>
              <a:t>  50K AI units/year</a:t>
            </a:r>
          </a:p>
          <a:p>
            <a:pPr>
              <a:defRPr sz="1200">
                <a:solidFill>
                  <a:srgbClr val="2D3748"/>
                </a:solidFill>
              </a:defRPr>
            </a:pPr>
            <a:r>
              <a:t>  Business-hours email support</a:t>
            </a:r>
          </a:p>
          <a:p>
            <a:pPr>
              <a:defRPr sz="1200">
                <a:solidFill>
                  <a:srgbClr val="2D3748"/>
                </a:solidFill>
              </a:defRPr>
            </a:pPr>
            <a:r>
              <a:t>  Annual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645920"/>
            <a:ext cx="5029200" cy="2743200"/>
          </a:xfrm>
          <a:prstGeom prst="roundRect">
            <a:avLst/>
          </a:prstGeom>
          <a:solidFill>
            <a:srgbClr val="FFFBEB"/>
          </a:solidFill>
          <a:ln w="25400">
            <a:solidFill>
              <a:srgbClr val="C89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A1628"/>
                </a:solidFill>
              </a:defRPr>
            </a:pPr>
            <a:r>
              <a:t>ESE Refinery Professional</a:t>
            </a:r>
          </a:p>
          <a:p>
            <a:pPr>
              <a:defRPr sz="2400" b="1">
                <a:solidFill>
                  <a:srgbClr val="1A3A5C"/>
                </a:solidFill>
              </a:defRPr>
            </a:pPr>
            <a:r>
              <a:t>200,000 EGP/yr</a:t>
            </a:r>
          </a:p>
          <a:p>
            <a:pPr>
              <a:defRPr sz="1200">
                <a:solidFill>
                  <a:srgbClr val="2D3748"/>
                </a:solidFill>
              </a:defRPr>
            </a:pPr>
            <a:r>
              <a:t>  Up to 25 named users</a:t>
            </a:r>
          </a:p>
          <a:p>
            <a:pPr>
              <a:defRPr sz="1200">
                <a:solidFill>
                  <a:srgbClr val="2D3748"/>
                </a:solidFill>
              </a:defRPr>
            </a:pPr>
            <a:r>
              <a:t>  All apps + custom RAG ingestion</a:t>
            </a:r>
          </a:p>
          <a:p>
            <a:pPr>
              <a:defRPr sz="1200">
                <a:solidFill>
                  <a:srgbClr val="2D3748"/>
                </a:solidFill>
              </a:defRPr>
            </a:pPr>
            <a:r>
              <a:t>  2,000 pages customer SOPs/manuals</a:t>
            </a:r>
          </a:p>
          <a:p>
            <a:pPr>
              <a:defRPr sz="1200">
                <a:solidFill>
                  <a:srgbClr val="2D3748"/>
                </a:solidFill>
              </a:defRPr>
            </a:pPr>
            <a:r>
              <a:t>  150K AI units/year</a:t>
            </a:r>
          </a:p>
          <a:p>
            <a:pPr>
              <a:defRPr sz="1200">
                <a:solidFill>
                  <a:srgbClr val="2D3748"/>
                </a:solidFill>
              </a:defRPr>
            </a:pPr>
            <a:r>
              <a:t>  Priority phone + email support</a:t>
            </a:r>
          </a:p>
          <a:p>
            <a:pPr>
              <a:defRPr sz="1200">
                <a:solidFill>
                  <a:srgbClr val="2D3748"/>
                </a:solidFill>
              </a:defRPr>
            </a:pPr>
            <a:r>
              <a:t>  Quarterly engineering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18096"/>
                </a:solidFill>
              </a:defRPr>
            </a:pPr>
            <a:r>
              <a:t>Add-ons:  +10 seats = 50K EGP/yr  |  Ingestion Pack (2,000 pages) = 150K EGP one-time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212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</a:defRPr>
            </a:pPr>
            <a:r>
              <a:t>Target: 10 EGPC Subsidiaries  |  Steady-state TAM: ~1.7-1.85M EGP/yr  |  In-house AI from Y1 (EGPC mandate)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008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18096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A1628"/>
                </a:solidFill>
              </a:defRPr>
            </a:pPr>
            <a:r>
              <a:t>Model B — Target EGPC Refineries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38100"/>
          </a:xfrm>
          <a:prstGeom prst="rect">
            <a:avLst/>
          </a:prstGeom>
          <a:solidFill>
            <a:srgbClr val="C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3A5C"/>
                </a:solidFill>
              </a:defRPr>
            </a:pPr>
            <a:r>
              <a:t>Tier 1 — Professional (200K/yr)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D3748"/>
                </a:solidFill>
              </a:defRPr>
            </a:pPr>
            <a:r>
              <a:t>MIDOR (170K bbl/d, $2.2B modernized)</a:t>
            </a:r>
          </a:p>
          <a:p>
            <a:pPr>
              <a:spcAft>
                <a:spcPts val="600"/>
              </a:spcAft>
              <a:defRPr sz="1400">
                <a:solidFill>
                  <a:srgbClr val="2D3748"/>
                </a:solidFill>
              </a:defRPr>
            </a:pPr>
            <a:r>
              <a:t>CORC Mostorod + Tanta (142K bbl/d)</a:t>
            </a:r>
          </a:p>
          <a:p>
            <a:pPr>
              <a:spcAft>
                <a:spcPts val="600"/>
              </a:spcAft>
              <a:defRPr sz="1400">
                <a:solidFill>
                  <a:srgbClr val="2D3748"/>
                </a:solidFill>
              </a:defRPr>
            </a:pPr>
            <a:r>
              <a:t>ANOPC / ASORC ($3B hydrocracker)</a:t>
            </a:r>
          </a:p>
          <a:p>
            <a:pPr>
              <a:spcAft>
                <a:spcPts val="600"/>
              </a:spcAft>
              <a:defRPr sz="1400">
                <a:solidFill>
                  <a:srgbClr val="2D3748"/>
                </a:solidFill>
              </a:defRPr>
            </a:pPr>
            <a:r>
              <a:t>APC — Alexandria Petroleum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6459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3A5C"/>
                </a:solidFill>
              </a:defRPr>
            </a:pPr>
            <a:r>
              <a:t>Tier 2 — Starter (100K/yr)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219456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D3748"/>
                </a:solidFill>
              </a:defRPr>
            </a:pPr>
            <a:r>
              <a:t>SOPC — Suez</a:t>
            </a:r>
          </a:p>
          <a:p>
            <a:pPr>
              <a:spcAft>
                <a:spcPts val="600"/>
              </a:spcAft>
              <a:defRPr sz="1400">
                <a:solidFill>
                  <a:srgbClr val="2D3748"/>
                </a:solidFill>
              </a:defRPr>
            </a:pPr>
            <a:r>
              <a:t>Ameriya Petroleum</a:t>
            </a:r>
          </a:p>
          <a:p>
            <a:pPr>
              <a:spcAft>
                <a:spcPts val="600"/>
              </a:spcAft>
              <a:defRPr sz="1400">
                <a:solidFill>
                  <a:srgbClr val="2D3748"/>
                </a:solidFill>
              </a:defRPr>
            </a:pPr>
            <a:r>
              <a:t>GPC (El Nasr)</a:t>
            </a:r>
          </a:p>
          <a:p>
            <a:pPr>
              <a:spcAft>
                <a:spcPts val="600"/>
              </a:spcAft>
              <a:defRPr sz="1400">
                <a:solidFill>
                  <a:srgbClr val="2D3748"/>
                </a:solidFill>
              </a:defRPr>
            </a:pPr>
            <a:r>
              <a:t>SIDPEC — Petrochemical</a:t>
            </a:r>
          </a:p>
          <a:p>
            <a:pPr>
              <a:spcAft>
                <a:spcPts val="600"/>
              </a:spcAft>
              <a:defRPr sz="1400">
                <a:solidFill>
                  <a:srgbClr val="2D3748"/>
                </a:solidFill>
              </a:defRPr>
            </a:pPr>
            <a:r>
              <a:t>+2 smaller EGPC subsidiaries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754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A1628"/>
                </a:solidFill>
              </a:defRPr>
            </a:pPr>
            <a:r>
              <a:t>Revenue Breakdown (Steady State)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212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3748"/>
                </a:solidFill>
              </a:defRPr>
            </a:pPr>
            <a:r>
              <a:t>Tier 1: 4 refineries × 200K = 800K EGP/yr  |  Tier 2: 6 refineries × 100K = 600K EGP/yr  |  Total: ~1.4-1.8M EGP/yr (with add-ons)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008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18096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A1628"/>
                </a:solidFill>
              </a:defRPr>
            </a:pPr>
            <a:r>
              <a:t>Model B — Financials (In-House AI, EGPC-Compliant)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38100"/>
          </a:xfrm>
          <a:prstGeom prst="rect">
            <a:avLst/>
          </a:prstGeom>
          <a:solidFill>
            <a:srgbClr val="C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515600" cy="128016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A1628"/>
                </a:solidFill>
              </a:defRPr>
            </a:pPr>
            <a:r>
              <a:t>Y1: 3 companies</a:t>
            </a:r>
            <a:br/>
            <a:r>
              <a:t>(pilots)  |  Revenue: 75K rev  |  Costs: 6,311K cost  |  Net: -6,236K net</a:t>
            </a:r>
          </a:p>
          <a:p>
            <a:pPr>
              <a:defRPr sz="1200">
                <a:solidFill>
                  <a:srgbClr val="718096"/>
                </a:solidFill>
              </a:defRPr>
            </a:pPr>
            <a:r>
              <a:t>Pilot phase, 25% revenue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200400"/>
            <a:ext cx="10515600" cy="128016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A1628"/>
                </a:solidFill>
              </a:defRPr>
            </a:pPr>
            <a:r>
              <a:t>Y2: 7 companies  |  Revenue: 1,150K rev  |  Costs: 2,855K cost  |  Net: -1,705K net</a:t>
            </a:r>
          </a:p>
          <a:p>
            <a:pPr>
              <a:defRPr sz="1200">
                <a:solidFill>
                  <a:srgbClr val="718096"/>
                </a:solidFill>
              </a:defRPr>
            </a:pPr>
            <a:r>
              <a:t>Ramp, full-price contracts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754880"/>
            <a:ext cx="10515600" cy="128016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A1628"/>
                </a:solidFill>
              </a:defRPr>
            </a:pPr>
            <a:r>
              <a:t>Y3: 10 companies  |  Revenue: 2,250K rev  |  Costs: 3,920K cost  |  Net: -1,670K net</a:t>
            </a:r>
          </a:p>
          <a:p>
            <a:pPr>
              <a:defRPr sz="1200">
                <a:solidFill>
                  <a:srgbClr val="718096"/>
                </a:solidFill>
              </a:defRPr>
            </a:pPr>
            <a:r>
              <a:t>Full deployment, all 10 active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6217920"/>
            <a:ext cx="10515600" cy="457200"/>
          </a:xfrm>
          <a:prstGeom prst="roundRect">
            <a:avLst/>
          </a:prstGeom>
          <a:solidFill>
            <a:srgbClr val="FFFBEB"/>
          </a:solidFill>
          <a:ln>
            <a:solidFill>
              <a:srgbClr val="C89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i="1">
                <a:solidFill>
                  <a:srgbClr val="0A1628"/>
                </a:solidFill>
              </a:defRPr>
            </a:pPr>
            <a:r>
              <a:t>Honest assessment: Model B is cash-negative through Y3. It is a strategic market-entry investment — real return in Y4+ (Model C at 10× ticket sizes).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008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18096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A1628"/>
                </a:solidFill>
              </a:defRPr>
            </a:pPr>
            <a:r>
              <a:t>Combined 3-Year Financial Outlook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38100"/>
          </a:xfrm>
          <a:prstGeom prst="rect">
            <a:avLst/>
          </a:prstGeom>
          <a:solidFill>
            <a:srgbClr val="C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A1628"/>
                </a:solidFill>
              </a:defRPr>
            </a:pPr>
            <a:r>
              <a:t>Revenue (K EGP)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5495544"/>
            <a:ext cx="2743200" cy="265176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852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A1628"/>
                </a:solidFill>
              </a:defRPr>
            </a:pPr>
            <a:r>
              <a:t>Y1: 725K EGP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3767327"/>
            <a:ext cx="2743200" cy="199339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5852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A1628"/>
                </a:solidFill>
              </a:defRPr>
            </a:pPr>
            <a:r>
              <a:t>Y2: 5450K EGP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0" y="1719072"/>
            <a:ext cx="2743200" cy="404164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5852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A1628"/>
                </a:solidFill>
              </a:defRPr>
            </a:pPr>
            <a:r>
              <a:t>Y3: 11050K EGP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463040"/>
            <a:ext cx="2560320" cy="9144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66160" y="1463040"/>
            <a:ext cx="2560320" cy="9144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0" y="1463040"/>
            <a:ext cx="2560320" cy="9144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235440" y="1463040"/>
            <a:ext cx="2560320" cy="9144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0" y="64008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18096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A1628"/>
                </a:solidFill>
              </a:defRPr>
            </a:pPr>
            <a:r>
              <a:t>Three Scenarios — 3-Year Net (K EGP)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38100"/>
          </a:xfrm>
          <a:prstGeom prst="rect">
            <a:avLst/>
          </a:prstGeom>
          <a:solidFill>
            <a:srgbClr val="C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00400" cy="3657600"/>
          </a:xfrm>
          <a:prstGeom prst="roundRect">
            <a:avLst/>
          </a:prstGeom>
          <a:solidFill>
            <a:srgbClr val="F4F6F9"/>
          </a:solidFill>
          <a:ln w="38100">
            <a:solidFill>
              <a:srgbClr val="E5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A1628"/>
                </a:solidFill>
              </a:defRPr>
            </a:pPr>
            <a:r>
              <a:t>Conservative</a:t>
            </a:r>
          </a:p>
          <a:p>
            <a:pPr algn="ctr">
              <a:defRPr sz="2800" b="1">
                <a:solidFill>
                  <a:srgbClr val="E53E3E"/>
                </a:solidFill>
              </a:defRPr>
            </a:pPr>
            <a:r>
              <a:t>(19,250K)</a:t>
            </a:r>
          </a:p>
          <a:p>
            <a:pPr algn="ctr">
              <a:defRPr sz="1300">
                <a:solidFill>
                  <a:srgbClr val="718096"/>
                </a:solidFill>
              </a:defRPr>
            </a:pPr>
            <a:r>
              <a:t>50% user acquisition</a:t>
            </a:r>
            <a:br/>
            <a:r>
              <a:t>Slow adoption</a:t>
            </a:r>
            <a:br/>
            <a:r>
              <a:t>Break-even: After Y3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00400" cy="3657600"/>
          </a:xfrm>
          <a:prstGeom prst="roundRect">
            <a:avLst/>
          </a:prstGeom>
          <a:solidFill>
            <a:srgbClr val="F4F6F9"/>
          </a:solidFill>
          <a:ln w="38100">
            <a:solidFill>
              <a:srgbClr val="C89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A1628"/>
                </a:solidFill>
              </a:defRPr>
            </a:pPr>
            <a:r>
              <a:t>Base Case</a:t>
            </a:r>
          </a:p>
          <a:p>
            <a:pPr algn="ctr">
              <a:defRPr sz="2800" b="1">
                <a:solidFill>
                  <a:srgbClr val="C8960C"/>
                </a:solidFill>
              </a:defRPr>
            </a:pPr>
            <a:r>
              <a:t>(8,671K)</a:t>
            </a:r>
          </a:p>
          <a:p>
            <a:pPr algn="ctr">
              <a:defRPr sz="1300">
                <a:solidFill>
                  <a:srgbClr val="718096"/>
                </a:solidFill>
              </a:defRPr>
            </a:pPr>
            <a:r>
              <a:t>As modeled</a:t>
            </a:r>
            <a:br/>
            <a:r>
              <a:t>Break-even: ~Y5</a:t>
            </a:r>
            <a:br/>
            <a:r>
              <a:t>In-house AI Day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200400" cy="3657600"/>
          </a:xfrm>
          <a:prstGeom prst="roundRect">
            <a:avLst/>
          </a:prstGeom>
          <a:solidFill>
            <a:srgbClr val="F4F6F9"/>
          </a:solidFill>
          <a:ln w="3810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A1628"/>
                </a:solidFill>
              </a:defRPr>
            </a:pPr>
            <a:r>
              <a:t>Aggressive</a:t>
            </a:r>
          </a:p>
          <a:p>
            <a:pPr algn="ctr">
              <a:defRPr sz="2800" b="1">
                <a:solidFill>
                  <a:srgbClr val="38A169"/>
                </a:solidFill>
              </a:defRPr>
            </a:pPr>
            <a:r>
              <a:t>+11,850K</a:t>
            </a:r>
          </a:p>
          <a:p>
            <a:pPr algn="ctr">
              <a:defRPr sz="1300">
                <a:solidFill>
                  <a:srgbClr val="718096"/>
                </a:solidFill>
              </a:defRPr>
            </a:pPr>
            <a:r>
              <a:t>2× user acquisition</a:t>
            </a:r>
            <a:br/>
            <a:r>
              <a:t>Arab expansion</a:t>
            </a:r>
            <a:br/>
            <a:r>
              <a:t>Break-even: Y2Q4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008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18096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A1628"/>
                </a:solidFill>
              </a:defRPr>
            </a:pPr>
            <a:r>
              <a:t>Key Milestones &amp; 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38100"/>
          </a:xfrm>
          <a:prstGeom prst="rect">
            <a:avLst/>
          </a:prstGeom>
          <a:solidFill>
            <a:srgbClr val="C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8960C"/>
                </a:solidFill>
              </a:defRPr>
            </a:pPr>
            <a:r>
              <a:t>Y1Q1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1463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3748"/>
                </a:solidFill>
              </a:defRPr>
            </a:pPr>
            <a:r>
              <a:t>Sub-brand live. Payment gateways. Hire A Lead + BDR.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57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8960C"/>
                </a:solidFill>
              </a:defRPr>
            </a:pPr>
            <a:r>
              <a:t>Y1Q2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20574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3748"/>
                </a:solidFill>
              </a:defRPr>
            </a:pPr>
            <a:r>
              <a:t>Hardware procurement. Hardware procurement. v2 soft launch. 40 paying. SPE Egypt webinar.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517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8960C"/>
                </a:solidFill>
              </a:defRPr>
            </a:pPr>
            <a:r>
              <a:t>Y1Q3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2651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3748"/>
                </a:solidFill>
              </a:defRPr>
            </a:pPr>
            <a:r>
              <a:t>90 paying. First Team Starter. YouTube series.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461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8960C"/>
                </a:solidFill>
              </a:defRPr>
            </a:pPr>
            <a:r>
              <a:t>Y1Q4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32461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3748"/>
                </a:solidFill>
              </a:defRPr>
            </a:pPr>
            <a:r>
              <a:t>150 paying. 3 Model B pilots signed. EGYPS 2027 prep.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8960C"/>
                </a:solidFill>
              </a:defRPr>
            </a:pPr>
            <a:r>
              <a:t>Y2Q1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3840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3748"/>
                </a:solidFill>
              </a:defRPr>
            </a:pPr>
            <a:r>
              <a:t>EGYPS 2027 booth — 500 signup target. 250 paying.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4348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8960C"/>
                </a:solidFill>
              </a:defRPr>
            </a:pPr>
            <a:r>
              <a:t>Y2Q2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4434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3748"/>
                </a:solidFill>
              </a:defRPr>
            </a:pPr>
            <a:r>
              <a:t>In-house AI operational. 450 paying. 5 B companies.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0292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8960C"/>
                </a:solidFill>
              </a:defRPr>
            </a:pPr>
            <a:r>
              <a:t>Y2Q3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5029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3748"/>
                </a:solidFill>
              </a:defRPr>
            </a:pPr>
            <a:r>
              <a:t>v2 complete. 680 paying. 7 B companies.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6235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8960C"/>
                </a:solidFill>
              </a:defRPr>
            </a:pPr>
            <a:r>
              <a:t>Y2Q4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56235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3748"/>
                </a:solidFill>
              </a:defRPr>
            </a:pPr>
            <a:r>
              <a:t>Model A break-even. 900 paying. All 10 B targets.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2179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8960C"/>
                </a:solidFill>
              </a:defRPr>
            </a:pPr>
            <a:r>
              <a:t>Y3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6217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3748"/>
                </a:solidFill>
              </a:defRPr>
            </a:pPr>
            <a:r>
              <a:t>Scale to 2,400 users. 10 active companies. Evaluate Model 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0" y="64008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18096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Next Steps &amp; Decisions Required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2743200" cy="38100"/>
          </a:xfrm>
          <a:prstGeom prst="rect">
            <a:avLst/>
          </a:prstGeom>
          <a:solidFill>
            <a:srgbClr val="C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1. Metwally approval: Two-track strategy + ~5.1M EGP initial investment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2. Sub-brand setup: "EPROM Digital" legal entity + trademark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3. Payment gateways: Paymob (Egypt) + Stripe (Arab region)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4. Hire Model A Lead + BDR (Y1Q1)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5. v2 engineering: 15 new equipment + modules (shared with Model B)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6. EGYPS 2027 booth preparation (Feb 2027)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7. Model B: 3 pilot MOUs with EGPC refineries (Y1Q4 target)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8. In-house AI deployment (Dell R760xa + 4× A100, Y1Q2 delivery)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18096"/>
                </a:solidFill>
              </a:defRPr>
            </a:pPr>
            <a:r>
              <a:t>ESE — EPROM Smart Engineering  |  https://ese.eprom.com.eg  |  April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008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18096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