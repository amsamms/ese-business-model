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ESE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7432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960C"/>
                </a:solidFill>
              </a:defRPr>
            </a:pPr>
            <a:r>
              <a:t>EPROM Smart Engineering — AI Copilot for Petroleum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Two-Track Strategy: Individual SaaS + Corporate SaaS for EGPC Refineries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</a:defRPr>
            </a:pPr>
            <a:r>
              <a:t>April 2026 — v2 (Egyptian Economic Reality Pricing)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ESE is an AI-powered engineering copilot for petroleum process engineers — built by EPROM, launched at EGYPS 2026.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Egypt's economic reality demands pricing EGPC subsidiaries can actually approve: 100K-200K EGP/yr per refinery.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Two-Track Strategy: Model A (Individual SaaS) generates cash flow + user feedback. Model B (Corporate SaaS) lands inside 10 EGPC refineries at honest Egyptian pricing.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Combined 3-year revenue: 17.2M EGP. Combined break-even: ~Y3Q3.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Model B is a strategic market-entry investment — the real return comes in Y4+ (Model C on-prem at 10× ticket sizes).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25603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A1628"/>
                </a:solidFill>
              </a:defRPr>
            </a:pPr>
            <a:r>
              <a:t>725K EGP</a:t>
            </a:r>
          </a:p>
          <a:p>
            <a:pPr algn="ctr">
              <a:defRPr sz="1100">
                <a:solidFill>
                  <a:srgbClr val="718096"/>
                </a:solidFill>
              </a:defRPr>
            </a:pPr>
            <a:r>
              <a:t>Y1 Combined</a:t>
            </a:r>
            <a:br/>
            <a:r>
              <a:t>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937760"/>
            <a:ext cx="25603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A1628"/>
                </a:solidFill>
              </a:defRPr>
            </a:pPr>
            <a:r>
              <a:t>5,450K EGP</a:t>
            </a:r>
          </a:p>
          <a:p>
            <a:pPr algn="ctr">
              <a:defRPr sz="1100">
                <a:solidFill>
                  <a:srgbClr val="718096"/>
                </a:solidFill>
              </a:defRPr>
            </a:pPr>
            <a:r>
              <a:t>Y2 Combined</a:t>
            </a:r>
            <a:br/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937760"/>
            <a:ext cx="25603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A1628"/>
                </a:solidFill>
              </a:defRPr>
            </a:pPr>
            <a:r>
              <a:t>11,050K EGP</a:t>
            </a:r>
          </a:p>
          <a:p>
            <a:pPr algn="ctr">
              <a:defRPr sz="1100">
                <a:solidFill>
                  <a:srgbClr val="718096"/>
                </a:solidFill>
              </a:defRPr>
            </a:pPr>
            <a:r>
              <a:t>Y3 Combined</a:t>
            </a:r>
            <a:br/>
            <a:r>
              <a:t>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937760"/>
            <a:ext cx="256032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A1628"/>
                </a:solidFill>
              </a:defRPr>
            </a:pPr>
            <a:r>
              <a:t>~Y3Q3</a:t>
            </a:r>
          </a:p>
          <a:p>
            <a:pPr algn="ctr">
              <a:defRPr sz="1100">
                <a:solidFill>
                  <a:srgbClr val="718096"/>
                </a:solidFill>
              </a:defRPr>
            </a:pPr>
            <a:r>
              <a:t>Break-even</a:t>
            </a:r>
            <a:br/>
            <a:r>
              <a:t>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Two-Track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A1628"/>
                </a:solidFill>
              </a:defRPr>
            </a:pPr>
            <a:r>
              <a:t>Model A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Individual &amp; SMB SaaS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SKUs: Free → Pro (12K/yr) → Team (48K+)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Revenue Y3: 8.8M EGP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Break-even: Y2Q4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Key asset: Direct user feedback loop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1,500+ engineers → real case studies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Funds shared costs for Model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A1628"/>
                </a:solidFill>
              </a:defRPr>
            </a:pPr>
            <a:r>
              <a:t>Model B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Corporate SaaS for EGPC Refineries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SKUs: Starter (100K/yr) → Pro (200K/yr)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Target: 10 EGPC subsidiaries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Steady-state TAM: ~1.8M EGP/yr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Cash-negative Y1-Y3 (strategic investment)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Real return Y4+: Model C at 10× tickets</a:t>
            </a:r>
          </a:p>
          <a:p>
            <a:pPr>
              <a:spcAft>
                <a:spcPts val="400"/>
              </a:spcAft>
              <a:defRPr sz="1300">
                <a:solidFill>
                  <a:srgbClr val="2D3748"/>
                </a:solidFill>
              </a:defRPr>
            </a:pPr>
            <a:r>
              <a:t>  Cloud-first, lean team (2-5 FTE)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960C"/>
                </a:solidFill>
              </a:defRPr>
            </a:pPr>
            <a:r>
              <a:t>Model A feeds Model B  →  Model B builds for Model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Model A — SKUs &amp;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25603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1628"/>
                </a:solidFill>
              </a:defRPr>
            </a:pPr>
            <a:r>
              <a:t>ESE Free Trial</a:t>
            </a:r>
          </a:p>
          <a:p>
            <a:pPr algn="ctr">
              <a:defRPr sz="1600" b="1">
                <a:solidFill>
                  <a:srgbClr val="1A3A5C"/>
                </a:solidFill>
              </a:defRPr>
            </a:pPr>
            <a:r>
              <a:t>0 EGP</a:t>
            </a:r>
          </a:p>
          <a:p>
            <a:pPr algn="ctr">
              <a:defRPr sz="1000">
                <a:solidFill>
                  <a:srgbClr val="718096"/>
                </a:solidFill>
              </a:defRPr>
            </a:pPr>
            <a:r>
              <a:t>10 AI units (once), 1 seat, view-only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463040"/>
            <a:ext cx="2057400" cy="25603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1628"/>
                </a:solidFill>
              </a:defRPr>
            </a:pPr>
            <a:r>
              <a:t>ESE Student</a:t>
            </a:r>
          </a:p>
          <a:p>
            <a:pPr algn="ctr">
              <a:defRPr sz="1600" b="1">
                <a:solidFill>
                  <a:srgbClr val="1A3A5C"/>
                </a:solidFill>
              </a:defRPr>
            </a:pPr>
            <a:r>
              <a:t>600 EGP/yr</a:t>
            </a:r>
          </a:p>
          <a:p>
            <a:pPr algn="ctr">
              <a:defRPr sz="1000">
                <a:solidFill>
                  <a:srgbClr val="718096"/>
                </a:solidFill>
              </a:defRPr>
            </a:pPr>
            <a:r>
              <a:t>100 AI units/mo, verified .edu.eg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463040"/>
            <a:ext cx="2057400" cy="25603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1628"/>
                </a:solidFill>
              </a:defRPr>
            </a:pPr>
            <a:r>
              <a:t>ESE Pro</a:t>
            </a:r>
          </a:p>
          <a:p>
            <a:pPr algn="ctr">
              <a:defRPr sz="1600" b="1">
                <a:solidFill>
                  <a:srgbClr val="1A3A5C"/>
                </a:solidFill>
              </a:defRPr>
            </a:pPr>
            <a:r>
              <a:t>12,000 EGP/yr</a:t>
            </a:r>
          </a:p>
          <a:p>
            <a:pPr algn="ctr">
              <a:defRPr sz="1000">
                <a:solidFill>
                  <a:srgbClr val="718096"/>
                </a:solidFill>
              </a:defRPr>
            </a:pPr>
            <a:r>
              <a:t>500 AI units/mo, unlimited history, PDF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63040"/>
            <a:ext cx="2057400" cy="25603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1628"/>
                </a:solidFill>
              </a:defRPr>
            </a:pPr>
            <a:r>
              <a:t>ESE Team Starter</a:t>
            </a:r>
          </a:p>
          <a:p>
            <a:pPr algn="ctr">
              <a:defRPr sz="1600" b="1">
                <a:solidFill>
                  <a:srgbClr val="1A3A5C"/>
                </a:solidFill>
              </a:defRPr>
            </a:pPr>
            <a:r>
              <a:t>48,000 EGP/yr</a:t>
            </a:r>
          </a:p>
          <a:p>
            <a:pPr algn="ctr">
              <a:defRPr sz="1000">
                <a:solidFill>
                  <a:srgbClr val="718096"/>
                </a:solidFill>
              </a:defRPr>
            </a:pPr>
            <a:r>
              <a:t>2,500 AI units/mo pooled, 5 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463040"/>
            <a:ext cx="2057400" cy="25603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1628"/>
                </a:solidFill>
              </a:defRPr>
            </a:pPr>
            <a:r>
              <a:t>ESE Team Growth</a:t>
            </a:r>
          </a:p>
          <a:p>
            <a:pPr algn="ctr">
              <a:defRPr sz="1600" b="1">
                <a:solidFill>
                  <a:srgbClr val="1A3A5C"/>
                </a:solidFill>
              </a:defRPr>
            </a:pPr>
            <a:r>
              <a:t>120,000 EGP/yr</a:t>
            </a:r>
          </a:p>
          <a:p>
            <a:pPr algn="ctr">
              <a:defRPr sz="1000">
                <a:solidFill>
                  <a:srgbClr val="718096"/>
                </a:solidFill>
              </a:defRPr>
            </a:pPr>
            <a:r>
              <a:t>7,500 AI units/mo pooled, 15 seats, 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</a:defRPr>
            </a:pPr>
            <a:r>
              <a:t>Pro tier at ~$19/mo — deliberately under ChatGPT Plus / Claude Pro psychological barrier for Egyptian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</a:defRPr>
            </a:pPr>
            <a:r>
              <a:t>Model A Financials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Y1: 150 users  |  650K rev  |  -2,180K 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</a:defRPr>
            </a:pPr>
            <a:r>
              <a:t>Y2: 900 users  |  4,300K rev  |  +20K net (break-even)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394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</a:defRPr>
            </a:pPr>
            <a:r>
              <a:t>Y3: 2,400 users  |  8,800K rev  |  +3,475K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Model A — User Feedback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48"/>
                </a:solidFill>
              </a:defRPr>
            </a:pPr>
            <a:r>
              <a:t>Model A's biggest strategic asset beyond revenue: a direct feedback channel to real petroleum engineers using the product daily.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2103120"/>
            <a:ext cx="548640" cy="5486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</a:defRPr>
            </a:pPr>
            <a:r>
              <a:t>In-app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</a:defRPr>
            </a:pPr>
            <a:r>
              <a:t>Thumbs up/down +</a:t>
            </a:r>
            <a:br/>
            <a:r>
              <a:t>free-text on every</a:t>
            </a:r>
            <a:br/>
            <a:r>
              <a:t>AI response</a:t>
            </a:r>
          </a:p>
        </p:txBody>
      </p:sp>
      <p:sp>
        <p:nvSpPr>
          <p:cNvPr id="8" name="Oval 7"/>
          <p:cNvSpPr/>
          <p:nvPr/>
        </p:nvSpPr>
        <p:spPr>
          <a:xfrm>
            <a:off x="3703320" y="2103120"/>
            <a:ext cx="548640" cy="5486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</a:defRPr>
            </a:pPr>
            <a:r>
              <a:t>Monthly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</a:defRPr>
            </a:pPr>
            <a:r>
              <a:t>Community Manager</a:t>
            </a:r>
            <a:br/>
            <a:r>
              <a:t>ranks top issues &amp;</a:t>
            </a:r>
            <a:br/>
            <a:r>
              <a:t>feature requests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2103120"/>
            <a:ext cx="548640" cy="5486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</a:defRPr>
            </a:pPr>
            <a:r>
              <a:t>Bi-weekly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</a:defRPr>
            </a:pPr>
            <a:r>
              <a:t>Engineering ships</a:t>
            </a:r>
            <a:br/>
            <a:r>
              <a:t>fixes every 2 weeks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2103120"/>
            <a:ext cx="548640" cy="5486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</a:defRPr>
            </a:pPr>
            <a:r>
              <a:t>Public Changelog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</a:defRPr>
            </a:pPr>
            <a:r>
              <a:t>Users see feedback</a:t>
            </a:r>
            <a:br/>
            <a:r>
              <a:t>become product</a:t>
            </a:r>
            <a:br/>
            <a:r>
              <a:t>within days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2103120"/>
            <a:ext cx="548640" cy="5486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</a:defRPr>
            </a:pPr>
            <a:r>
              <a:t>Advisory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</a:defRPr>
            </a:pPr>
            <a:r>
              <a:t>Top 20 power users:</a:t>
            </a:r>
            <a:br/>
            <a:r>
              <a:t>early access + direct</a:t>
            </a:r>
            <a:br/>
            <a:r>
              <a:t>line to product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Why this matters for Model B: Before pitching MIDOR/CORC, 1,500 Model A users have already battle-tested every feature. We walk into EGPC meetings knowing exactly what refiners need — because they already told us.</a:t>
            </a:r>
            <a:br/>
            <a:br/>
            <a:r>
              <a:t>Cost: Near-zero marginal cost. Community Manager already in hiring plan. Simple feedback widget (~2 days dev work).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Model B — Corporate SaaS for EGPC Refineries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7432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A1628"/>
                </a:solidFill>
              </a:defRPr>
            </a:pPr>
            <a:r>
              <a:t>ESE Refinery Starter</a:t>
            </a:r>
          </a:p>
          <a:p>
            <a:pPr>
              <a:defRPr sz="2400" b="1">
                <a:solidFill>
                  <a:srgbClr val="1A3A5C"/>
                </a:solidFill>
              </a:defRPr>
            </a:pPr>
            <a:r>
              <a:t>100,000 EGP/yr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Up to 10 named users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All ESE engineering apps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Shared EPROM knowledge base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50K AI units/year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Business-hours email support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Annual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A1628"/>
                </a:solidFill>
              </a:defRPr>
            </a:pPr>
            <a:r>
              <a:t>ESE Refinery Professional</a:t>
            </a:r>
          </a:p>
          <a:p>
            <a:pPr>
              <a:defRPr sz="2400" b="1">
                <a:solidFill>
                  <a:srgbClr val="1A3A5C"/>
                </a:solidFill>
              </a:defRPr>
            </a:pPr>
            <a:r>
              <a:t>200,000 EGP/yr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Up to 25 named users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All apps + custom RAG ingestion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2,000 pages customer SOPs/manuals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150K AI units/year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Priority phone + email support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  Quarterly engineering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</a:defRPr>
            </a:pPr>
            <a:r>
              <a:t>Add-ons:  +10 seats = 50K EGP/yr  |  Ingestion Pack (2,000 pages) = 150K EGP one-time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</a:defRPr>
            </a:pPr>
            <a:r>
              <a:t>Target: 10 EGPC Subsidiaries  |  Steady-state TAM: ~1.7-1.85M EGP/yr  |  Cloud-first, lean team (2-5 FTE)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Model B — Target EGPC Refineries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Tier 1 — Professional (200K/yr)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MIDOR (170K bbl/d, $2.2B modernized)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CORC Mostorod + Tanta (142K bbl/d)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ANOPC / ASORC ($3B hydrocracker)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APC — Alexandria Petroleum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</a:defRPr>
            </a:pPr>
            <a:r>
              <a:t>Tier 2 — Starter (100K/yr)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SOPC — Suez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Ameriya Petroleum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GPC (El Nasr)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SIDPEC — Petrochemical</a:t>
            </a:r>
          </a:p>
          <a:p>
            <a:pPr>
              <a:spcAft>
                <a:spcPts val="600"/>
              </a:spcAft>
              <a:defRPr sz="1400">
                <a:solidFill>
                  <a:srgbClr val="2D3748"/>
                </a:solidFill>
              </a:defRPr>
            </a:pPr>
            <a:r>
              <a:t>+2 smaller EGPC subsidiaries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</a:defRPr>
            </a:pPr>
            <a:r>
              <a:t>Revenue Breakdown (Steady 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Tier 1: 4 refineries × 200K = 800K EGP/yr  |  Tier 2: 6 refineries × 100K = 600K EGP/yr  |  Total: ~1.4-1.8M EGP/yr (with add-ons)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Model B — Financials (Lean, Cloud-First)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2801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Y1: 3 companies</a:t>
            </a:r>
            <a:br/>
            <a:r>
              <a:t>(pilots)  |  Revenue: 75K rev  |  Costs: 1,856K cost  |  Net: -1,781K net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Pilot phase, 25%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515600" cy="12801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Y2: 7 companies  |  Revenue: 1,150K rev  |  Costs: 2,520K cost  |  Net: -1,370K net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Ramp, full-price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2801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Y3: 10 companies  |  Revenue: 2,250K rev  |  Costs: 3,685K cost  |  Net: -1,435K net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Full deployment, all 10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217920"/>
            <a:ext cx="10515600" cy="457200"/>
          </a:xfrm>
          <a:prstGeom prst="roundRect">
            <a:avLst/>
          </a:prstGeom>
          <a:solidFill>
            <a:srgbClr val="FFFBEB"/>
          </a:solidFill>
          <a:ln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0A1628"/>
                </a:solidFill>
              </a:defRPr>
            </a:pPr>
            <a:r>
              <a:t>Honest assessment: Model B is cash-negative through Y3. It is a strategic market-entry investment — real return in Y4+ (Model C at 10× ticket sizes).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Combined 3-Year Financial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Revenue (K EGP)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95544"/>
            <a:ext cx="2743200" cy="2651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Y1: 725K EGP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767327"/>
            <a:ext cx="2743200" cy="19933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Y2: 5450K EGP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719072"/>
            <a:ext cx="2743200" cy="40416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Y3: 11050K EGP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2560320" cy="914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463040"/>
            <a:ext cx="2560320" cy="914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560320" cy="914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560320" cy="914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Three Scenarios — 3-Year Net (K EGP)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3657600"/>
          </a:xfrm>
          <a:prstGeom prst="roundRect">
            <a:avLst/>
          </a:prstGeom>
          <a:solidFill>
            <a:srgbClr val="F4F6F9"/>
          </a:solidFill>
          <a:ln w="381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A1628"/>
                </a:solidFill>
              </a:defRPr>
            </a:pPr>
            <a:r>
              <a:t>Conservative</a:t>
            </a:r>
          </a:p>
          <a:p>
            <a:pPr algn="ctr">
              <a:defRPr sz="2800" b="1">
                <a:solidFill>
                  <a:srgbClr val="E53E3E"/>
                </a:solidFill>
              </a:defRPr>
            </a:pPr>
            <a:r>
              <a:t>(10,250K)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50% user acquisition</a:t>
            </a:r>
            <a:br/>
            <a:r>
              <a:t>Slow self-host</a:t>
            </a:r>
            <a:br/>
            <a:r>
              <a:t>Break-even: After Y3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00400" cy="3657600"/>
          </a:xfrm>
          <a:prstGeom prst="roundRect">
            <a:avLst/>
          </a:prstGeom>
          <a:solidFill>
            <a:srgbClr val="F4F6F9"/>
          </a:solidFill>
          <a:ln w="38100">
            <a:solidFill>
              <a:srgbClr val="C89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A1628"/>
                </a:solidFill>
              </a:defRPr>
            </a:pPr>
            <a:r>
              <a:t>Base Case</a:t>
            </a:r>
          </a:p>
          <a:p>
            <a:pPr algn="ctr">
              <a:defRPr sz="2800" b="1">
                <a:solidFill>
                  <a:srgbClr val="C8960C"/>
                </a:solidFill>
              </a:defRPr>
            </a:pPr>
            <a:r>
              <a:t>(3,271K)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As modeled</a:t>
            </a:r>
            <a:br/>
            <a:r>
              <a:t>Break-even: Y3Q3</a:t>
            </a:r>
            <a:br/>
            <a:r>
              <a:t>Combined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3657600"/>
          </a:xfrm>
          <a:prstGeom prst="roundRect">
            <a:avLst/>
          </a:prstGeom>
          <a:solidFill>
            <a:srgbClr val="F4F6F9"/>
          </a:solidFill>
          <a:ln w="381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A1628"/>
                </a:solidFill>
              </a:defRPr>
            </a:pPr>
            <a:r>
              <a:t>Aggressive</a:t>
            </a:r>
          </a:p>
          <a:p>
            <a:pPr algn="ctr">
              <a:defRPr sz="2800" b="1">
                <a:solidFill>
                  <a:srgbClr val="38A169"/>
                </a:solidFill>
              </a:defRPr>
            </a:pPr>
            <a:r>
              <a:t>+10,850K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2× user acquisition</a:t>
            </a:r>
            <a:br/>
            <a:r>
              <a:t>Arab expansion</a:t>
            </a:r>
            <a:br/>
            <a:r>
              <a:t>Break-even: Y2Q4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628"/>
                </a:solidFill>
              </a:defRPr>
            </a:pPr>
            <a:r>
              <a:t>Key Milestones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Y1Q1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Sub-brand live. Payment gateways. Hire A Lead + BDR.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Y1Q2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v2 soft launch. 40 paying. SPE Egypt webinar.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Y1Q3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90 paying. First Team Starter. YouTube series.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Y1Q4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150 paying. 3 Model B pilots signed. EGYPS 2027 prep.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Y2Q1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EGYPS 2027 booth — 500 signup target. 250 paying.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Y2Q2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Self-host migration (RunPod). 450 paying. 5 B companies.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Y2Q3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v2 complete. 680 paying. 7 B companies.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Y2Q4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Model A break-even. 900 paying. All 10 B targets.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960C"/>
                </a:solidFill>
              </a:defRPr>
            </a:pPr>
            <a:r>
              <a:t>Y3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Scale to 2,400 users. 10 active companies. Evaluate Model 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Next Steps &amp; Decisions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1. Metwally approval: Two-track strategy + 3.6M EGP initial investment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2. Sub-brand setup: "EPROM Digital" legal entity + trademark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3. Payment gateways: Paymob (Egypt) + Stripe (Arab region)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4. Hire Model A Lead + BDR (Y1Q1)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5. v2 engineering: 15 new equipment + modules (shared with Model B)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6. EGYPS 2027 booth preparation (Feb 2027)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7. Model B: 3 pilot MOUs with EGPC refineries (Y1Q4 target)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8. Self-host migration planning (RunPod Qwen3-32B, Y2Q2 trigger)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8096"/>
                </a:solidFill>
              </a:defRPr>
            </a:pPr>
            <a:r>
              <a:t>ESE — EPROM Smart Engineering  |  https://ese.eprom.com.eg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